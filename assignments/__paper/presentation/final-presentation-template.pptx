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381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Arial"/>
              </a:rPr>
              <a:t>SOC 106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2222"/>
                </a:solidFill>
                <a:latin typeface="Arial"/>
              </a:rPr>
              <a:t>Your Research Paper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99999"/>
                </a:solidFill>
                <a:latin typeface="Arial"/>
              </a:rPr>
              <a:t>Your Name  ·  May 5 or May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Motivation &amp;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1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What social problem or gap in knowledge motivated this study?
Why should the class care? Who is affected?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RESEARCH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53949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472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9999"/>
                </a:solidFill>
                <a:latin typeface="Arial"/>
              </a:rPr>
              <a:t>State your research question in one clear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THEORY / PRIOR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53949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2744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Connect to one concept or prior finding that shapes your expectations.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HYPOTHESES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H₀ (Null hypothesis)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83080"/>
            <a:ext cx="521208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9280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No relationship / no difference between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H₁ (Research hypothesis)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063240"/>
            <a:ext cx="521208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17296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What do you expect to find, and 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Expected direction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480560"/>
            <a:ext cx="521208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5902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Positive / negative / no expected direction — and why.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960120"/>
            <a:ext cx="12700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Data, Variables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2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29184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Source: [Dataset name]
Sample: [Who is included? n = ?]
Unit of analysis: [Individual / household / etc.]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3291840" cy="2331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55848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99"/>
                </a:solidFill>
                <a:latin typeface="Arial"/>
              </a:rPr>
              <a:t>Model: [OLS / Logistic / Chi-squared / t-test]
Why this method? [One sentence.]
Data decisions: [Recodes, dropped cases, restrictions.]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KEY 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7406640" cy="1905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Measurement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83080"/>
            <a:ext cx="740664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507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Outcome (DV)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50719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[variable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5071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[How is it measured? e.g., income in $]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92607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926079"/>
            <a:ext cx="740664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00227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Key predictor (IV)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02279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[variable 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0227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[e.g., years of education, 0–20]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97763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05383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Control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53839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[variable name]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5383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[brief description]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02919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5029199"/>
            <a:ext cx="740664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10539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Control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05399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[variable 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0539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[brief description]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608075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960120"/>
            <a:ext cx="12700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Results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3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MAIN FIGURE OR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675120" cy="3474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Paste your chart, regression table, or cross-tab here.
(Delete this box and insert your image or table.)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41732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Finding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737360"/>
            <a:ext cx="425196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847088"/>
            <a:ext cx="3977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Direction + magnitude + significance.
e.g., Each additional year of education is associated with a 0.3 SD increase in income (p &lt; .05).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3464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Finding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154680"/>
            <a:ext cx="42519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3264408"/>
            <a:ext cx="3977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Secondary finding, subgroup pattern, or null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960120"/>
            <a:ext cx="12700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834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MAIN TAKEAWAY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94960"/>
            <a:ext cx="352044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One sentence: what did you find and what does it mean sociologically?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0749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LIMITATIONS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5394960"/>
            <a:ext cx="352044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50468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1–2 key limitations and how you'd address them with more time or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0749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QUESTION FOR 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5394960"/>
            <a:ext cx="388620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5504688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What specific feedback are you looking for from the class?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